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51534" y="1156335"/>
            <a:ext cx="7093586" cy="155511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800" b="1">
                <a:solidFill>
                  <a:srgbClr val="353160"/>
                </a:solidFill>
                <a:latin typeface="思源黑体 CN Bold"/>
              </a:rPr>
              <a:t>FOMC、BOJ加息与全球流动性拐点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2831450"/>
            <a:ext cx="10947402" cy="1192276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研究主线：FOMC会议受瞩目的数据背景——5月美国非农与CPI回顾。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研究主线：6月17日美联储FOMC：“没加息，但更鹰了”。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研究主线：世界其他央行加息步伐，或带来全球流动性收紧。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研究主线：流动性拐点之际，如何定价大类资产。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8000" y="576000"/>
            <a:ext cx="10980000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核心结论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576000" y="1303695"/>
            <a:ext cx="10980000" cy="14198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因而，Q4公布的2026Q3 ECI数据有一定可能转而上行。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对于年内是否可能加息，他同样没有直接承诺，但从SEP来看，年末联邦基金利率中位数为3.8%，高于当前3.50%–3.75%的目标区间，意味着年内加息风险确实上升。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欧洲央行在6月11日会议上率先加息25bp，同步上调三大关键利率，是G7中首个重启加息的央行。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另一方面，若风险资产快速下跌并引发流动性紧张，黄金也可能被动遭遇抛售。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8801100" y="6552000"/>
            <a:ext cx="2743200" cy="28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260566" y="1218566"/>
            <a:ext cx="10047514" cy="1300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0" b="1">
                <a:solidFill>
                  <a:srgbClr val="353160"/>
                </a:solidFill>
                <a:latin typeface="Source Han Sans CN Regular"/>
              </a:rPr>
              <a:t>FOMC会议受瞩目的数据背景——5月美国非农与CPI回顾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非农超预期，不过就业还未全面升温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192276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5月的非农数据显示出就业市场明显回暖的迹象，且先前广泛担忧的AI对就业市场的负向扰动尚未发生。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美国新增非农就业为+17.2万人，显著高于+8.5万人的预期，超预期102.4%。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失业率维持在4.3%。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同时，3月和4月非农就业合计上修9.3万人，强化了劳动力市场仍有韧性的判断。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2577181"/>
            <a:ext cx="5486462" cy="3582969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graphicFrame>
        <p:nvGraphicFramePr>
          <p:cNvPr id="5" name="table_placeholder"/>
          <p:cNvGraphicFramePr>
            <a:graphicFrameLocks noGrp="1"/>
          </p:cNvGraphicFramePr>
          <p:nvPr/>
        </p:nvGraphicFramePr>
        <p:xfrm>
          <a:off x="6030532" y="2577181"/>
          <a:ext cx="5486463" cy="3582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21"/>
                <a:gridCol w="1828821"/>
                <a:gridCol w="1828821"/>
              </a:tblGrid>
              <a:tr h="89574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字段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数值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说明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</a:tr>
              <a:tr h="89574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根据原文表格生成</a:t>
                      </a:r>
                    </a:p>
                  </a:txBody>
                  <a:tcPr marL="45720" marR="45720" marT="30000" marB="30000"/>
                </a:tc>
              </a:tr>
              <a:tr h="89574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保持关键数据</a:t>
                      </a:r>
                    </a:p>
                  </a:txBody>
                  <a:tcPr marL="45720" marR="45720" marT="30000" marB="30000"/>
                </a:tc>
              </a:tr>
              <a:tr h="895743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保持比较关系</a:t>
                      </a:r>
                    </a:p>
                  </a:txBody>
                  <a:tcPr marL="45720" marR="45720" marT="30000" marB="30000"/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数据来源：【广发策略】全球流动性走到哪里了？——央.docx；一、FOMC会议受瞩目的数据背景——5月美国非农与CPI回顾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CPI绝对数值高涨，不过内部结构不算坏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90119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美国5月CPI表面高位通胀，但实际上持平预期，已进入定价。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5月CPI与核心CPI都是同比符合预期、环比甚至略低于市场预期。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通胀数据整体不坏。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2286097"/>
            <a:ext cx="11092925" cy="3874053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数据来源：【广发策略】全球流动性走到哪里了？——央.docx；一、FOMC会议受瞩目的数据背景——5月美国非农与CPI回顾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CPI绝对数值高涨，不过内部结构不算坏（续）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能源项推升headline CPI，但核心CPI相对温和。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能源项贡献了5月All items月度环比涨幅的超过60%，同比看，其中汽油上涨40.5%。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食品同比上涨3.1%，环比仅+0.2%，未形成油价冲击向食品广泛传导的二次效应。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5月核心商品CPI重新转负，季调环比-0.1%，商品端还未形成再通胀压力。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核心服务黏性较强，季调环比+ 0.3%，也无明显加速。</a:t>
            </a:r>
          </a:p>
        </p:txBody>
      </p:sp>
      <p:graphicFrame>
        <p:nvGraphicFramePr>
          <p:cNvPr id="4" name="table_placeholder"/>
          <p:cNvGraphicFramePr>
            <a:graphicFrameLocks noGrp="1"/>
          </p:cNvGraphicFramePr>
          <p:nvPr/>
        </p:nvGraphicFramePr>
        <p:xfrm>
          <a:off x="424070" y="2868265"/>
          <a:ext cx="11092925" cy="3291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641"/>
                <a:gridCol w="3697641"/>
                <a:gridCol w="3697643"/>
              </a:tblGrid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字段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数值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说明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</a:tr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根据原文表格生成</a:t>
                      </a:r>
                    </a:p>
                  </a:txBody>
                  <a:tcPr marL="45720" marR="45720" marT="30000" marB="30000"/>
                </a:tc>
              </a:tr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保持关键数据</a:t>
                      </a:r>
                    </a:p>
                  </a:txBody>
                  <a:tcPr marL="45720" marR="45720" marT="30000" marB="30000"/>
                </a:tc>
              </a:tr>
              <a:tr h="82297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保持比较关系</a:t>
                      </a:r>
                    </a:p>
                  </a:txBody>
                  <a:tcPr marL="45720" marR="45720" marT="30000" marB="30000"/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数据来源：【广发策略】全球流动性走到哪里了？——央.docx；一、FOMC会议受瞩目的数据背景——5月美国非农与CPI回顾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CPI的隐忧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71094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虽然本次最新CPI主要受到能源驱使，属于外部冲击，但仍有风险转为更顽固的内生性通胀。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当下，最新的4月美国（职位空缺数量/失业数量）比值为1.03，自2025年6月后首次重拾1以上，已然触底反弹。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根据历史数据统计，美国（职位空缺数量/失业数量）比值始终和工资薪金水平（Employment Cost Index，ECI）保持强正相关，譬如在过去的25年间（2002Q1-2006Q1）具有0.828的高相关性且显著。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因而，Q4公布的2026Q3 ECI数据有一定可能转而上行。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一旦这一数据拐点出现，工资重新加速，便会坐实通胀压力从外部冲击转向更顽固的内生性通胀，从而迫使美联储考虑加速加息的节奏。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3095849"/>
            <a:ext cx="11092925" cy="3064301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数据来源：【广发策略】全球流动性走到哪里了？——央.docx；一、FOMC会议受瞩目的数据背景——5月美国非农与CPI回顾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260566" y="1218566"/>
            <a:ext cx="10047514" cy="1300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0" b="1">
                <a:solidFill>
                  <a:srgbClr val="353160"/>
                </a:solidFill>
                <a:latin typeface="Source Han Sans CN Regular"/>
              </a:rPr>
              <a:t>6月17日美联储FOMC：“没加息，但更鹰了”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利率决议——按兵不动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6月FOMC会议的利率决议本身并不意外，美联储以12-0全票通过，维持联邦基金目标利率区间在3.50%–3.75%不变。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从结果看，利率按兵不动，但会议释放的整体信号并不鸽派。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声明继续强调通胀仍高于委员会2%目标，并重申美联储致力于恢复物价稳定。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同时，声明保留了“维持银行体系充裕准备金”的表述，意味着短期内大规模缩表并不是政策主线。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总的来说，6月会议没有立即收紧，但为后续更灵活、更偏鹰的政策路径打开了空间。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2868265"/>
            <a:ext cx="11092925" cy="3291885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数据来源：【广发策略】全球流动性走到哪里了？——央.docx；二、6月17日美联储FOMC：“没加息，但更鹰了”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利率决议——按兵不动（续）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71094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更值得关注的是，美联储的沟通方式出现明显变化。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此次议息声明篇幅被大幅压缩，接近缩减三分之二，整体表述更加克制，减少了对未来路径的暗示。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虽然18名提交SEP的委员中，有9人认为年内仍会加息，且其中6人预计加息幅度超过25bp，显示委员会内部对进一步收紧仍有相当支持，但主席Warsh本人不提交预测，本身就在削弱“主席观点”对市场定价的锚定作用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图 5：6月最新点阵图显示，半数投票委员预计今年加息，5位预期2次。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数据来源：Summary of Economic Projections、广发证券发展研究中心。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3095849"/>
            <a:ext cx="11092925" cy="3064301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数据来源：【广发策略】全球流动性走到哪里了？——央.docx；二、6月17日美联储FOMC：“没加息，但更鹰了”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FOMC后记者会——Warsh新政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93852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这意味着美联储可能正在从Powell时期的“透明沟通、大资产负债表、SEP锚定预期”框架，转向一个更强调数据实时性、灵活性、资产负债表缩窄和沟通框架重构的Warsh体系。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序号：工作组名称：核心职能。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而在通胀本就高于目标的背景下，不确定性本身对风险资产并不友好。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FOMC会议公布后1小时内，市场快速定价“更高政策不确定性+偏鹰解读”：美元指数一度从约99.6拉升至接近100.6，之后一直在这一较高水位上震荡。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10年期美债收益率由约4.42%快速上行至4.49%附近，上行约7bp。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3323433"/>
            <a:ext cx="11092925" cy="2836717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数据来源：【广发策略】全球流动性走到哪里了？——央.docx；二、6月17日美联储FOMC：“没加息，但更鹰了”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FOMC后记者会——Warsh新政（续）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938528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记者会后续Q&amp;A环节进一步确认了这一鹰派方向。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对于是否未来每次FOMC后都召开记者会，Warsh没有给出明确承诺，只是认可记者会有助于公众沟通，但对固定化安排保持保留态度。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对于取消前瞻指引，他的逻辑也很清楚：当前环境下，前瞻指引容易让市场过度交易Fed暗示，甚至误读政策意图，因此声明应更多“只给事实”，不提前承诺未来路径。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对于年内是否可能加息，他同样没有直接承诺，但从SEP来看，年末联邦基金利率中位数为3.8%，高于当前3.50%–3.75%的目标区间，意味着年内加息风险确实上升。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数据来源：CME FedWatch、广发证券发展研究中心：数据来源：CME FedWatch、广发证券发展研究中心。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3323433"/>
            <a:ext cx="11092925" cy="2836717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数据来源：【广发策略】全球流动性走到哪里了？——央.docx；二、6月17日美联储FOMC：“没加息，但更鹰了”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没加息，但更鹰了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71094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整体来看，本次FOMC可概括为“利率不动，框架转鹰”。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短期内，美联储并未通过加息或缩表直接收紧金融条件，声明中关于充裕准备金的表述也说明资产负债表收缩暂时不是重点。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但中长期看，美联储正在弱化过去几年高度透明、强预期管理的政策模式，转向更依赖实时数据、更少提前承诺、并可能重写部分政策框架的新阶段。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对市场而言，这意味着未来Fed put更不清晰，政策路径更难被提前交易。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在通胀仍偏高、年内加息概率上升的背景下，本次会议释放的信号整体偏鹰。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3095849"/>
            <a:ext cx="11092925" cy="3064301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数据来源：【广发策略】全球流动性走到哪里了？——央.docx；二、6月17日美联储FOMC：“没加息，但更鹰了”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260566" y="1218566"/>
            <a:ext cx="10047514" cy="79964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0" b="1">
                <a:solidFill>
                  <a:srgbClr val="353160"/>
                </a:solidFill>
                <a:latin typeface="Source Han Sans CN Regular"/>
              </a:rPr>
              <a:t>世界其他央行加息步伐，或带来全球流动性收紧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日本：“加息了，但没能救日元”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6月16日的利率决议中，日本央行将政策利率从0.75%上调至1%，创下日本时隔三十一年来最高利率水平。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图 11：日本央行自1995年以来，首次将政策利率重提至1%。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日本央行本次加息，核心是应对日元贬值与通胀内生化的双重压力。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记者会期间，外汇市场上日元兑美元仍在1美元兑160.20–160.30日元的范围内小幅波动。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当日，美元指数也仅在99.5–99.8区间窄幅波动，体现此次BOJ加息25bp已基本被市场提前消化。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2868265"/>
            <a:ext cx="11092925" cy="3291885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数据来源：【广发策略】全球流动性走到哪里了？——央.docx；三、世界其他央行加息步伐，或带来全球流动性收紧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日本：“加息了，但没能救日元”（续）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710944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Reuters 6月2日至8日经济学家调查显示，66/70名受访经济学家预计BOJ将在6月底前加息至1.0%，因而25bp本身不构成冲击。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另外，日央行宣布从2027年4月起暂停缩减购债，将日本国债每月购买规模维持在约2万亿日元，边际削弱了加息对日元的利好。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图 15：2027年4月起，日央行将放缓减少购债的步伐。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这个结果对日元并不算强支撑，因此单次25bp并不足以改变汇率趋势。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图 16：市场目前定价，BOJ年内最可能在12月加息一次。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3095849"/>
            <a:ext cx="11092925" cy="3064301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数据来源：【广发策略】全球流动性走到哪里了？——央.docx；三、世界其他央行加息步伐，或带来全球流动性收紧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欧元区：“G7加息的第一枪”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欧洲央行在6月11日会议上率先加息25bp，同步上调三大关键利率，是G7中首个重启加息的央行。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图 17：欧央行已在6月11日上调三大政策利率。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当前欧元区经济动能明显弱于美国，制造业与居民部门均面临更高的能源成本压力，但中东冲突推升油气价格后，通胀反弹风险重新上升。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在滞胀约束下，欧央行选择优先稳住通胀预期，意味着短期政策重心仍将更多放在压制价格压力，而非托底增长。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图 18：欧元区面临滞胀压力。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2868265"/>
            <a:ext cx="11092925" cy="3291885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数据来源：【广发策略】全球流动性走到哪里了？——央.docx；三、世界其他央行加息步伐，或带来全球流动性收紧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全球流动性风向：央行再紧缩信号升温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今年4月起，央行的政策利率方向开始转向分歧。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5月开始，国际清算银行追踪的49个发达和新兴经济体央行中，4家加息，同时只有2家降息。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到6月，欧央行、日本、澳大利亚、挪威等发达市场央行与印尼、菲律宾、南非等新兴市场央行共同转向偏紧。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在加息周期迫近的背景下，贵金属、工业金属等利率敏感型资产后续可能承压。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图 19：欧、日、澳、菲律宾已进入加息周期，美联储距离加息亦不遥远。</a:t>
            </a:r>
          </a:p>
        </p:txBody>
      </p:sp>
      <p:sp>
        <p:nvSpPr>
          <p:cNvPr id="4" name="chart_placeholder"/>
          <p:cNvSpPr/>
          <p:nvPr/>
        </p:nvSpPr>
        <p:spPr>
          <a:xfrm>
            <a:off x="424070" y="2868265"/>
            <a:ext cx="5486462" cy="3291885"/>
          </a:xfrm>
          <a:prstGeom prst="rect">
            <a:avLst/>
          </a:prstGeom>
          <a:solidFill>
            <a:srgbClr val="F5F5FA"/>
          </a:solidFill>
          <a:ln w="12700">
            <a:solidFill>
              <a:srgbClr val="B9B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353160"/>
                </a:solidFill>
                <a:latin typeface="Arial"/>
              </a:rPr>
              <a:t>图表区域（待生成）</a:t>
            </a:r>
          </a:p>
        </p:txBody>
      </p:sp>
      <p:graphicFrame>
        <p:nvGraphicFramePr>
          <p:cNvPr id="5" name="table_placeholder"/>
          <p:cNvGraphicFramePr>
            <a:graphicFrameLocks noGrp="1"/>
          </p:cNvGraphicFramePr>
          <p:nvPr/>
        </p:nvGraphicFramePr>
        <p:xfrm>
          <a:off x="6030532" y="2868265"/>
          <a:ext cx="5486463" cy="3291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21"/>
                <a:gridCol w="1828821"/>
                <a:gridCol w="1828821"/>
              </a:tblGrid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字段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数值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说明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</a:tr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根据原文表格生成</a:t>
                      </a:r>
                    </a:p>
                  </a:txBody>
                  <a:tcPr marL="45720" marR="45720" marT="30000" marB="30000"/>
                </a:tc>
              </a:tr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保持关键数据</a:t>
                      </a:r>
                    </a:p>
                  </a:txBody>
                  <a:tcPr marL="45720" marR="45720" marT="30000" marB="30000"/>
                </a:tc>
              </a:tr>
              <a:tr h="82297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保持比较关系</a:t>
                      </a:r>
                    </a:p>
                  </a:txBody>
                  <a:tcPr marL="45720" marR="45720" marT="30000" marB="30000"/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数据来源：【广发策略】全球流动性走到哪里了？——央.docx；三、世界其他央行加息步伐，或带来全球流动性收紧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06286" y="1736726"/>
            <a:ext cx="10047514" cy="79964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4000" b="1">
                <a:solidFill>
                  <a:srgbClr val="353160"/>
                </a:solidFill>
                <a:latin typeface="Source Han Sans CN Regular"/>
              </a:rPr>
              <a:t>流动性拐点之际，如何定价大类资产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流动性拐点之际，如何定价大类资产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如果后续全球流动性收紧超预期，会推动美债收益率上行，债券价格相应下跌，长端利率也会重新定价更高的政策利率路径。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若市场同时交易“美国利率更高、全球流动性更紧”，美元的阶段性强势可能进一步强化。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另一方面，若风险资产快速下跌并引发流动性紧张，黄金也可能被动遭遇抛售。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权益资产理论上会在短期受到负向冲击，但半导体与AI产业基本面仍支撑下，短暂下跌可能带来布局机会。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考虑到美股、尤其是美股科技当下估值已处较高位，后续可能从单边上涨行情切换为更高波、更依赖盈利确认的震荡上行市。</a:t>
            </a:r>
          </a:p>
        </p:txBody>
      </p:sp>
      <p:graphicFrame>
        <p:nvGraphicFramePr>
          <p:cNvPr id="4" name="table_placeholder"/>
          <p:cNvGraphicFramePr>
            <a:graphicFrameLocks noGrp="1"/>
          </p:cNvGraphicFramePr>
          <p:nvPr/>
        </p:nvGraphicFramePr>
        <p:xfrm>
          <a:off x="424070" y="2868265"/>
          <a:ext cx="11092925" cy="3291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641"/>
                <a:gridCol w="3697641"/>
                <a:gridCol w="3697643"/>
              </a:tblGrid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字段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数值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思源黑体 CN Medium"/>
                        </a:rPr>
                        <a:t>说明</a:t>
                      </a:r>
                    </a:p>
                  </a:txBody>
                  <a:tcPr marL="45720" marR="45720" marT="30000" marB="30000">
                    <a:solidFill>
                      <a:srgbClr val="F2F2F2"/>
                    </a:solidFill>
                  </a:tcPr>
                </a:tc>
              </a:tr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根据原文表格生成</a:t>
                      </a:r>
                    </a:p>
                  </a:txBody>
                  <a:tcPr marL="45720" marR="45720" marT="30000" marB="30000"/>
                </a:tc>
              </a:tr>
              <a:tr h="822971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保持关键数据</a:t>
                      </a:r>
                    </a:p>
                  </a:txBody>
                  <a:tcPr marL="45720" marR="45720" marT="30000" marB="30000"/>
                </a:tc>
              </a:tr>
              <a:tr h="82297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待填充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—</a:t>
                      </a:r>
                    </a:p>
                  </a:txBody>
                  <a:tcPr marL="45720" marR="4572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思源黑体 CN Medium"/>
                        </a:rPr>
                        <a:t>保持比较关系</a:t>
                      </a:r>
                    </a:p>
                  </a:txBody>
                  <a:tcPr marL="45720" marR="45720" marT="30000" marB="30000"/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数据来源：【广发策略】全球流动性走到哪里了？——央.docx；四、流动性拐点之际，如何定价大类资产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8000" y="576000"/>
            <a:ext cx="10831195" cy="60833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风险提示及免责声明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685798" y="1304330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海外通胀及工资压力超预期，美联储加息节奏快于预期。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全球央行再紧缩幅度超预期，流动性收缩压制高估值资产。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AI产业链资本开支和盈利兑现不及预期。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广发证券 行业投资评级说明：买入：预期未来12个月内，股价表现强于大盘10%以上。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广发证券 行业投资评级说明：持有：预期未来12个月内，股价相对大盘的变动幅度介于-10%～+10%。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数据来源：【广发策略】全球流动性走到哪里了？——央.docx；五、风险提示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537210"/>
            <a:ext cx="10831195" cy="60769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200" b="1">
                <a:solidFill>
                  <a:srgbClr val="353160"/>
                </a:solidFill>
                <a:latin typeface="Source Han Sans CN Normal"/>
              </a:rPr>
              <a:t>免责声明（续）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24070" y="1264905"/>
            <a:ext cx="10947402" cy="1483360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广发证券 公司投资评级说明：增持：预期未来12个月内，股价表现强于大盘5%-15%。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广州市： 广州市天河区马场路26号广发证券大厦47楼：510627：gfzqyf@gf.com.cn。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深圳市： 深圳市福田区益田路6001号太平金融大厦31层：518026。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北京市： 北京市西城区月坛北街2号月坛大厦18层：100045。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353160"/>
                </a:solidFill>
                <a:latin typeface="Source Han Sans CN Medium"/>
              </a:rPr>
              <a:t>• 上海市： 上海市浦东新区南泉北路429号泰康保险大厦37楼：200120。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35659" y="6280150"/>
            <a:ext cx="5203736" cy="27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Arial"/>
              </a:rPr>
              <a:t>数据来源：【广发策略】全球流动性走到哪里了？——央.docx；五、风险提示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8801100" y="6280150"/>
            <a:ext cx="2743200" cy="365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353160"/>
                </a:solidFill>
                <a:latin typeface="Source Han Sans CN Regular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